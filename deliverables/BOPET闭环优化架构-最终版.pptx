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e442a2a9a64e3a" /><Relationship Type="http://schemas.openxmlformats.org/officeDocument/2006/relationships/extended-properties" Target="/docProps/app.xml" Id="Rcaf1d89854304620" /><Relationship Type="http://schemas.openxmlformats.org/officeDocument/2006/relationships/officeDocument" Target="/ppt/presentation.xml" Id="R28b6d7bda52444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17cec9875d4c50"/>
  </p:sldMasterIdLst>
  <p:notesMasterIdLst>
    <p:notesMasterId xmlns:r="http://schemas.openxmlformats.org/officeDocument/2006/relationships" r:id="R6eadff3b468349fd"/>
  </p:notesMasterIdLst>
  <p:sldIdLst>
    <p:sldId xmlns:r="http://schemas.openxmlformats.org/officeDocument/2006/relationships" id="256" r:id="R277d03b61a9d4770"/>
    <p:sldId xmlns:r="http://schemas.openxmlformats.org/officeDocument/2006/relationships" id="257" r:id="Rcc6ab73642b3418c"/>
    <p:sldId xmlns:r="http://schemas.openxmlformats.org/officeDocument/2006/relationships" id="258" r:id="R984b8b5c4a334a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9c3a1ecf094451" /><Relationship Type="http://schemas.openxmlformats.org/officeDocument/2006/relationships/slideMaster" Target="/ppt/slideMasters/slideMaster1.xml" Id="Rcf17cec9875d4c50" /><Relationship Type="http://schemas.openxmlformats.org/officeDocument/2006/relationships/notesMaster" Target="/ppt/notesMasters/notesMaster1.xml" Id="R6eadff3b468349fd" /><Relationship Type="http://schemas.openxmlformats.org/officeDocument/2006/relationships/presProps" Target="/ppt/presProps.xml" Id="R72442f33fb144ffb" /><Relationship Type="http://schemas.openxmlformats.org/officeDocument/2006/relationships/tableStyles" Target="/ppt/tableStyles.xml" Id="Re4eca84e0dda49f9" /><Relationship Type="http://schemas.openxmlformats.org/officeDocument/2006/relationships/slide" Target="/ppt/slides/slide1.xml" Id="R277d03b61a9d4770" /><Relationship Type="http://schemas.openxmlformats.org/officeDocument/2006/relationships/slide" Target="/ppt/slides/slide2.xml" Id="Rcc6ab73642b3418c" /><Relationship Type="http://schemas.openxmlformats.org/officeDocument/2006/relationships/slide" Target="/ppt/slides/slide3.xml" Id="R984b8b5c4a33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77026208854c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d37d85ad324ba1" /><Relationship Type="http://schemas.openxmlformats.org/officeDocument/2006/relationships/notesMaster" Target="/ppt/notesMasters/notesMaster1.xml" Id="Rc7a77fe26ddb48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98cede90fd4a38" /><Relationship Type="http://schemas.openxmlformats.org/officeDocument/2006/relationships/notesMaster" Target="/ppt/notesMasters/notesMaster1.xml" Id="Rc35f690e8d094d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13c559e7934041" /><Relationship Type="http://schemas.openxmlformats.org/officeDocument/2006/relationships/notesMaster" Target="/ppt/notesMasters/notesMaster1.xml" Id="Rc305d59010854d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场景定位：薄膜双拉来自用户原稿；系统闭环按 AgentWorkShop 当前通用实现概括。优化器先生成建议，受治理审批后才允许走 DCW 写入，随后以设备回读和质量复测形成反馈。依据：server/services/workshop/optimization/manager.ts；server/services/workshop/optimization/dispatch.service.ts；server/services/workshop/dcw/dcw-controller/write-verify.ts。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职责关系：产线侧承载工况、配方、DAQ/MES 反馈及 DCW 受控写入；AgentWorkShop 运行时编排优化任务与 HITL；Optimizer 形成并验证推荐；Twin 在隔离虚拟试验中预测；RAG bridge 提供经验检索与归档。实际下发要求 recommendation verified、最新独立互校通过，并在批准时复验。依据：server/services/workshop/optimization/manager.ts；server/services/workshop/optimization/dispatch.service.ts；server/services/workshop/aml/twin/trial-service.ts；server/plugins-builtin/rag-bridge/；docs/onboarding/标准产线开发文档-连续退火线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快环依据：optimizer 为 recommendation-first；写入需 verified 与独立互校通过，建立 HITL 审批卡，批准时再校验并经 DCW 执行，写后回读验证。Twin VirtualTrial 的 candidateExecuted=false。慢环依据：AML 数据集、训练计划、评估、模型 promote 流程；实测偏差可形成 calibration/training candidate，经过验证并审批晋升，供后续寻优使用。依据：server/services/workshop/optimization/manager.ts；server/services/workshop/optimization/dispatch.service.ts；server/services/workshop/aml/twin/trial-service.ts；server/services/workshop/aml/twin/feature-flags.ts；server/api/workshop/aml/models/[id]/promote.post.ts；docs/am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9c647711a40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775034b3940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62cd0c10b41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cb770d9bf41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7142c0fb646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8c34019a44a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E6F91A-53E8-409B-95FD-D3616D9B8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0BD269-EEEF-4BEA-BA3C-46343E94F4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C60A9B-DD6B-4E8C-949C-DB552C0735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DB1AF2-FEC8-44B4-8EAD-50CED064C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29D9EB-A9EB-449F-BB13-B5D0B6E4BE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9EDEF7-BC11-40B0-A2C9-4CA0BBA3E6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DE330A-7322-4DE1-8EEC-A21FCDD7BC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814D2E-B240-4FE4-861A-787AB00534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F4EC54-EF5D-497E-A194-B88A7283EB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835136-53B4-4013-BEA5-3042D72C3C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110ac6ba284dcf" /><Relationship Type="http://schemas.openxmlformats.org/officeDocument/2006/relationships/slideLayout" Target="/ppt/slideLayouts/slideLayout1.xml" Id="R3fbcfd0a923f4239" /><Relationship Type="http://schemas.openxmlformats.org/officeDocument/2006/relationships/slideLayout" Target="/ppt/slideLayouts/slideLayout2.xml" Id="R05ea70c2a2af4542" /><Relationship Type="http://schemas.openxmlformats.org/officeDocument/2006/relationships/slideLayout" Target="/ppt/slideLayouts/slideLayout3.xml" Id="Rb3a806c121df4e5c" /><Relationship Type="http://schemas.openxmlformats.org/officeDocument/2006/relationships/slideLayout" Target="/ppt/slideLayouts/slideLayout4.xml" Id="R187c26ab4bf84fb0" /><Relationship Type="http://schemas.openxmlformats.org/officeDocument/2006/relationships/slideLayout" Target="/ppt/slideLayouts/slideLayout5.xml" Id="Rd2749cc2220a4040" /><Relationship Type="http://schemas.openxmlformats.org/officeDocument/2006/relationships/slideLayout" Target="/ppt/slideLayouts/slideLayout6.xml" Id="R7fa58d5c65134b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cfd0a923f4239"/>
    <p:sldLayoutId xmlns:r="http://schemas.openxmlformats.org/officeDocument/2006/relationships" id="2147483650" r:id="R05ea70c2a2af4542"/>
    <p:sldLayoutId xmlns:r="http://schemas.openxmlformats.org/officeDocument/2006/relationships" id="2147483651" r:id="Rb3a806c121df4e5c"/>
    <p:sldLayoutId xmlns:r="http://schemas.openxmlformats.org/officeDocument/2006/relationships" id="2147483652" r:id="R187c26ab4bf84fb0"/>
    <p:sldLayoutId xmlns:r="http://schemas.openxmlformats.org/officeDocument/2006/relationships" id="2147483653" r:id="Rd2749cc2220a4040"/>
    <p:sldLayoutId xmlns:r="http://schemas.openxmlformats.org/officeDocument/2006/relationships" id="2147483654" r:id="R7fa58d5c65134b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b53e5fa61443d" /><Relationship Type="http://schemas.openxmlformats.org/officeDocument/2006/relationships/notesSlide" Target="/ppt/notesSlides/notesSlide1.xml" Id="Rcf67f3ca0ca746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b10ce03fa4f5b" /><Relationship Type="http://schemas.openxmlformats.org/officeDocument/2006/relationships/notesSlide" Target="/ppt/notesSlides/notesSlide2.xml" Id="Rde236d2bb45341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d3222be7345f4" /><Relationship Type="http://schemas.openxmlformats.org/officeDocument/2006/relationships/notesSlide" Target="/ppt/notesSlides/notesSlide3.xml" Id="Rf3aea41b38f945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EBBA0DD-4A71-48C0-A749-2592E4D9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rPr>
              <a:t>AGENTWORKSHOP   /   INDUSTRIAL OPTIMIZATION</a:t>
            </a:r>
          </a:p>
        </p:txBody>
      </p:sp>
      <p:sp>
        <p:nvSpPr>
          <p:cNvPr id="2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212371CE-3FA6-4F86-80FA-9C68E5B0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1D6C5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6110D61-9B57-4345-AE09-76D28BC2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219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薄膜双拉产线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闭环优化架构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819BD06-E311-403E-B12C-5C856524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rPr>
              <a:t>以受治理的建议驱动现场改进</a:t>
            </a:r>
          </a:p>
          <a:p xmlns:a="http://schemas.openxmlformats.org/drawingml/2006/main">
            <a:pPr algn="l">
              <a:def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3CED8"/>
                </a:solidFill>
                <a:latin typeface="Microsoft YaHei"/>
                <a:ea typeface="Microsoft YaHei"/>
                <a:cs typeface="Microsoft YaHei"/>
              </a:rPr>
              <a:t>以真实回读与质量反馈推动下一轮优化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16AA2A96-A053-4BEE-B83D-D45A1CD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999A9"/>
                </a:solidFill>
                <a:latin typeface="Microsoft YaHei"/>
                <a:ea typeface="Microsoft YaHei"/>
                <a:cs typeface="Microsoft YaHei"/>
              </a:rPr>
              <a:t>薄膜双拉工艺场景示意  ·  基于 AgentWorkShop 通用闭环能力</a:t>
            </a:r>
          </a:p>
        </p:txBody>
      </p:sp>
      <p:sp>
        <p:nvSpPr>
          <p:cNvPr id="6" name="cover-cycle-node-1">
            <a:extLst xmlns:a="http://schemas.openxmlformats.org/drawingml/2006/main">
              <a:ext uri="{FF2B5EF4-FFF2-40B4-BE49-F238E27FC236}">
                <a16:creationId xmlns:a16="http://schemas.microsoft.com/office/drawing/2014/main" id="{388CBC93-438C-4E36-BD64-5396B90E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71600"/>
            <a:ext cx="2095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3263D"/>
          </a:solidFill>
          <a:ln xmlns:a="http://schemas.openxmlformats.org/drawingml/2006/main" w="11430">
            <a:solidFill>
              <a:srgbClr val="294158"/>
            </a:solidFill>
            <a:prstDash val="solid"/>
          </a:ln>
        </p:spPr>
      </p:sp>
      <p:sp>
        <p:nvSpPr>
          <p:cNvPr id="7" name="cover-cycle-marker-1">
            <a:extLst xmlns:a="http://schemas.openxmlformats.org/drawingml/2006/main">
              <a:ext uri="{FF2B5EF4-FFF2-40B4-BE49-F238E27FC236}">
                <a16:creationId xmlns:a16="http://schemas.microsoft.com/office/drawing/2014/main" id="{91C40260-997C-46B7-B1A6-E4BE8146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43050"/>
            <a:ext cx="1143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cycle-label-1">
            <a:extLst xmlns:a="http://schemas.openxmlformats.org/drawingml/2006/main">
              <a:ext uri="{FF2B5EF4-FFF2-40B4-BE49-F238E27FC236}">
                <a16:creationId xmlns:a16="http://schemas.microsoft.com/office/drawing/2014/main" id="{97849EB0-83FA-44E9-B661-EF9E1D3F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85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现场数据</a:t>
            </a:r>
          </a:p>
        </p:txBody>
      </p:sp>
      <p:sp>
        <p:nvSpPr>
          <p:cNvPr id="9" name="cover-cycle-sub-1">
            <a:extLst xmlns:a="http://schemas.openxmlformats.org/drawingml/2006/main">
              <a:ext uri="{FF2B5EF4-FFF2-40B4-BE49-F238E27FC236}">
                <a16:creationId xmlns:a16="http://schemas.microsoft.com/office/drawing/2014/main" id="{86F21DF9-4B5C-4783-AFBF-42E095E4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19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rPr>
              <a:t>工况 · 配方 · 质量</a:t>
            </a:r>
          </a:p>
        </p:txBody>
      </p:sp>
      <p:sp>
        <p:nvSpPr>
          <p:cNvPr id="10" name="cover-cycle-node-2">
            <a:extLst xmlns:a="http://schemas.openxmlformats.org/drawingml/2006/main">
              <a:ext uri="{FF2B5EF4-FFF2-40B4-BE49-F238E27FC236}">
                <a16:creationId xmlns:a16="http://schemas.microsoft.com/office/drawing/2014/main" id="{523712B9-B22C-45C8-BC19-7F9FEBE5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17526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3263D"/>
          </a:solidFill>
          <a:ln xmlns:a="http://schemas.openxmlformats.org/drawingml/2006/main" w="11430">
            <a:solidFill>
              <a:srgbClr val="294158"/>
            </a:solidFill>
            <a:prstDash val="solid"/>
          </a:ln>
        </p:spPr>
      </p:sp>
      <p:sp>
        <p:nvSpPr>
          <p:cNvPr id="11" name="cover-cycle-marker-2">
            <a:extLst xmlns:a="http://schemas.openxmlformats.org/drawingml/2006/main">
              <a:ext uri="{FF2B5EF4-FFF2-40B4-BE49-F238E27FC236}">
                <a16:creationId xmlns:a16="http://schemas.microsoft.com/office/drawing/2014/main" id="{FE415C7E-B3AD-4EAD-9A71-DDAD4C61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09925"/>
            <a:ext cx="1143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cycle-label-2">
            <a:extLst xmlns:a="http://schemas.openxmlformats.org/drawingml/2006/main">
              <a:ext uri="{FF2B5EF4-FFF2-40B4-BE49-F238E27FC236}">
                <a16:creationId xmlns:a16="http://schemas.microsoft.com/office/drawing/2014/main" id="{813BB1D9-56B5-4085-BE9A-3F03E2BC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527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安全决策</a:t>
            </a:r>
          </a:p>
        </p:txBody>
      </p:sp>
      <p:sp>
        <p:nvSpPr>
          <p:cNvPr id="13" name="cover-cycle-sub-2">
            <a:extLst xmlns:a="http://schemas.openxmlformats.org/drawingml/2006/main">
              <a:ext uri="{FF2B5EF4-FFF2-40B4-BE49-F238E27FC236}">
                <a16:creationId xmlns:a16="http://schemas.microsoft.com/office/drawing/2014/main" id="{D7A3444F-4D9D-4A08-9224-D5899E5D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861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rPr>
              <a:t>安全边界 · 互校</a:t>
            </a:r>
          </a:p>
        </p:txBody>
      </p:sp>
      <p:sp>
        <p:nvSpPr>
          <p:cNvPr id="14" name="cover-cycle-node-3">
            <a:extLst xmlns:a="http://schemas.openxmlformats.org/drawingml/2006/main">
              <a:ext uri="{FF2B5EF4-FFF2-40B4-BE49-F238E27FC236}">
                <a16:creationId xmlns:a16="http://schemas.microsoft.com/office/drawing/2014/main" id="{965430A7-6F37-451B-8530-A38C7098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14875"/>
            <a:ext cx="2095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3263D"/>
          </a:solidFill>
          <a:ln xmlns:a="http://schemas.openxmlformats.org/drawingml/2006/main" w="11430">
            <a:solidFill>
              <a:srgbClr val="294158"/>
            </a:solidFill>
            <a:prstDash val="solid"/>
          </a:ln>
        </p:spPr>
      </p:sp>
      <p:sp>
        <p:nvSpPr>
          <p:cNvPr id="15" name="cover-cycle-marker-3">
            <a:extLst xmlns:a="http://schemas.openxmlformats.org/drawingml/2006/main">
              <a:ext uri="{FF2B5EF4-FFF2-40B4-BE49-F238E27FC236}">
                <a16:creationId xmlns:a16="http://schemas.microsoft.com/office/drawing/2014/main" id="{0E593F87-267E-446B-8B5F-BFC86A86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86325"/>
            <a:ext cx="1143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ver-cycle-label-3">
            <a:extLst xmlns:a="http://schemas.openxmlformats.org/drawingml/2006/main">
              <a:ext uri="{FF2B5EF4-FFF2-40B4-BE49-F238E27FC236}">
                <a16:creationId xmlns:a16="http://schemas.microsoft.com/office/drawing/2014/main" id="{8E6A9591-11F7-4AB2-BB05-9C31D5CD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291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</p:txBody>
      </p:sp>
      <p:sp>
        <p:nvSpPr>
          <p:cNvPr id="17" name="cover-cycle-sub-3">
            <a:extLst xmlns:a="http://schemas.openxmlformats.org/drawingml/2006/main">
              <a:ext uri="{FF2B5EF4-FFF2-40B4-BE49-F238E27FC236}">
                <a16:creationId xmlns:a16="http://schemas.microsoft.com/office/drawing/2014/main" id="{D3122C14-6C40-402E-B91A-1CD4D2A0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62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rPr>
              <a:t>审批 · DCW · 回读</a:t>
            </a:r>
          </a:p>
        </p:txBody>
      </p:sp>
      <p:sp>
        <p:nvSpPr>
          <p:cNvPr id="18" name="cover-cycle-node-4">
            <a:extLst xmlns:a="http://schemas.openxmlformats.org/drawingml/2006/main">
              <a:ext uri="{FF2B5EF4-FFF2-40B4-BE49-F238E27FC236}">
                <a16:creationId xmlns:a16="http://schemas.microsoft.com/office/drawing/2014/main" id="{982B00DE-60E8-49FE-AE9C-99DEC16D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384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3263D"/>
          </a:solidFill>
          <a:ln xmlns:a="http://schemas.openxmlformats.org/drawingml/2006/main" w="11430">
            <a:solidFill>
              <a:srgbClr val="294158"/>
            </a:solidFill>
            <a:prstDash val="solid"/>
          </a:ln>
        </p:spPr>
      </p:sp>
      <p:sp>
        <p:nvSpPr>
          <p:cNvPr id="19" name="cover-cycle-marker-4">
            <a:extLst xmlns:a="http://schemas.openxmlformats.org/drawingml/2006/main">
              <a:ext uri="{FF2B5EF4-FFF2-40B4-BE49-F238E27FC236}">
                <a16:creationId xmlns:a16="http://schemas.microsoft.com/office/drawing/2014/main" id="{1857585B-E42B-4142-A9F8-4651CBF2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09925"/>
            <a:ext cx="1143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E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ver-cycle-label-4">
            <a:extLst xmlns:a="http://schemas.openxmlformats.org/drawingml/2006/main">
              <a:ext uri="{FF2B5EF4-FFF2-40B4-BE49-F238E27FC236}">
                <a16:creationId xmlns:a16="http://schemas.microsoft.com/office/drawing/2014/main" id="{55F55D8B-F371-4AB8-8520-DC43119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527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实测反馈</a:t>
            </a:r>
          </a:p>
        </p:txBody>
      </p:sp>
      <p:sp>
        <p:nvSpPr>
          <p:cNvPr id="21" name="cover-cycle-sub-4">
            <a:extLst xmlns:a="http://schemas.openxmlformats.org/drawingml/2006/main">
              <a:ext uri="{FF2B5EF4-FFF2-40B4-BE49-F238E27FC236}">
                <a16:creationId xmlns:a16="http://schemas.microsoft.com/office/drawing/2014/main" id="{5F07A7EA-9DE8-4F90-94B3-F4C3AE9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7C3"/>
                </a:solidFill>
                <a:latin typeface="Microsoft YaHei"/>
                <a:ea typeface="Microsoft YaHei"/>
                <a:cs typeface="Microsoft YaHei"/>
              </a:rPr>
              <a:t>复测 · 对账 · 校准</a:t>
            </a:r>
          </a:p>
        </p:txBody>
      </p:sp>
      <p:sp>
        <p:nvSpPr>
          <p:cNvPr id="22" name="cover-flow-data-to-gate">
            <a:extLst xmlns:a="http://schemas.openxmlformats.org/drawingml/2006/main">
              <a:ext uri="{FF2B5EF4-FFF2-40B4-BE49-F238E27FC236}">
                <a16:creationId xmlns:a16="http://schemas.microsoft.com/office/drawing/2014/main" id="{05099084-86CA-4D48-A8A0-1B8B429A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47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23" name="cover-flow-gate-to-actuation">
            <a:extLst xmlns:a="http://schemas.openxmlformats.org/drawingml/2006/main">
              <a:ext uri="{FF2B5EF4-FFF2-40B4-BE49-F238E27FC236}">
                <a16:creationId xmlns:a16="http://schemas.microsoft.com/office/drawing/2014/main" id="{18F59E14-208A-48AE-8356-D49B5469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719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24" name="cover-flow-actuation-to-feedback">
            <a:extLst xmlns:a="http://schemas.openxmlformats.org/drawingml/2006/main">
              <a:ext uri="{FF2B5EF4-FFF2-40B4-BE49-F238E27FC236}">
                <a16:creationId xmlns:a16="http://schemas.microsoft.com/office/drawing/2014/main" id="{FAF82C12-9106-4945-907A-4FFA6FFF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719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rPr>
              <a:t>↖</a:t>
            </a:r>
          </a:p>
        </p:txBody>
      </p:sp>
      <p:sp>
        <p:nvSpPr>
          <p:cNvPr id="25" name="cover-flow-feedback-to-data">
            <a:extLst xmlns:a="http://schemas.openxmlformats.org/drawingml/2006/main">
              <a:ext uri="{FF2B5EF4-FFF2-40B4-BE49-F238E27FC236}">
                <a16:creationId xmlns:a16="http://schemas.microsoft.com/office/drawing/2014/main" id="{07ADD040-1046-4F15-B896-2666E4C3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47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rPr>
              <a:t>↗</a:t>
            </a:r>
          </a:p>
        </p:txBody>
      </p:sp>
      <p:sp>
        <p:nvSpPr>
          <p:cNvPr id="26" name="cover-center-label">
            <a:extLst xmlns:a="http://schemas.openxmlformats.org/drawingml/2006/main">
              <a:ext uri="{FF2B5EF4-FFF2-40B4-BE49-F238E27FC236}">
                <a16:creationId xmlns:a16="http://schemas.microsoft.com/office/drawing/2014/main" id="{82B2485E-A346-453D-80FE-554B3BEE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人机协同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治理闭环</a:t>
            </a:r>
          </a:p>
        </p:txBody>
      </p:sp>
      <p:sp>
        <p:nvSpPr>
          <p:cNvPr id="27" name="cover-page-number">
            <a:extLst xmlns:a="http://schemas.openxmlformats.org/drawingml/2006/main">
              <a:ext uri="{FF2B5EF4-FFF2-40B4-BE49-F238E27FC236}">
                <a16:creationId xmlns:a16="http://schemas.microsoft.com/office/drawing/2014/main" id="{32D55B5B-22B6-4861-AB57-BE2F7C9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rPr>
              <a:t>01  /  03</a:t>
            </a:r>
          </a:p>
        </p:txBody>
      </p:sp>
    </p:spTree>
    <p:extLst>
      <p:ext uri="{BB962C8B-B14F-4D97-AF65-F5344CB8AC3E}">
        <p14:creationId xmlns:p14="http://schemas.microsoft.com/office/powerpoint/2010/main" val="510750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architecture-eyebrow">
            <a:extLst xmlns:a="http://schemas.openxmlformats.org/drawingml/2006/main">
              <a:ext uri="{FF2B5EF4-FFF2-40B4-BE49-F238E27FC236}">
                <a16:creationId xmlns:a16="http://schemas.microsoft.com/office/drawing/2014/main" id="{9A841670-A874-4623-80BF-24B6C911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rPr>
              <a:t>01   /   SYSTEM MAP</a:t>
            </a:r>
          </a:p>
        </p:txBody>
      </p:sp>
      <p:sp>
        <p:nvSpPr>
          <p:cNvPr id="2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E50E88F8-FCB6-49CA-AAC5-CD40AF47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rPr>
              <a:t>系统闭环总览</a:t>
            </a:r>
          </a:p>
        </p:txBody>
      </p:sp>
      <p:sp>
        <p:nvSpPr>
          <p:cNvPr id="3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16439505-70A7-4B08-A243-6DF84F2E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rPr>
              <a:t>从现场状态形成可审阅建议，再由受控执行与实测反馈闭合回路</a:t>
            </a:r>
          </a:p>
        </p:txBody>
      </p:sp>
      <p:sp>
        <p:nvSpPr>
          <p:cNvPr id="4" name="architecture-plant-zone">
            <a:extLst xmlns:a="http://schemas.openxmlformats.org/drawingml/2006/main">
              <a:ext uri="{FF2B5EF4-FFF2-40B4-BE49-F238E27FC236}">
                <a16:creationId xmlns:a16="http://schemas.microsoft.com/office/drawing/2014/main" id="{E99BB1CB-5471-4100-9CB8-1E0CA368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DF"/>
            </a:solidFill>
            <a:prstDash val="solid"/>
          </a:ln>
        </p:spPr>
      </p:sp>
      <p:sp>
        <p:nvSpPr>
          <p:cNvPr id="5" name="architecture-plant-accent">
            <a:extLst xmlns:a="http://schemas.openxmlformats.org/drawingml/2006/main">
              <a:ext uri="{FF2B5EF4-FFF2-40B4-BE49-F238E27FC236}">
                <a16:creationId xmlns:a16="http://schemas.microsoft.com/office/drawing/2014/main" id="{B925FD00-9C2E-41AE-86D3-FEA748A2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itecture-plant-index">
            <a:extLst xmlns:a="http://schemas.openxmlformats.org/drawingml/2006/main">
              <a:ext uri="{FF2B5EF4-FFF2-40B4-BE49-F238E27FC236}">
                <a16:creationId xmlns:a16="http://schemas.microsoft.com/office/drawing/2014/main" id="{F6A4906C-219F-4AFB-96D1-7DE765A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rPr>
              <a:t>01   现场与质量</a:t>
            </a:r>
          </a:p>
        </p:txBody>
      </p:sp>
      <p:sp>
        <p:nvSpPr>
          <p:cNvPr id="7" name="architecture-plant-title">
            <a:extLst xmlns:a="http://schemas.openxmlformats.org/drawingml/2006/main">
              <a:ext uri="{FF2B5EF4-FFF2-40B4-BE49-F238E27FC236}">
                <a16:creationId xmlns:a16="http://schemas.microsoft.com/office/drawing/2014/main" id="{2CD3D3BB-D263-4D62-ABDF-2631C68B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rPr>
              <a:t>产线现场</a:t>
            </a:r>
          </a:p>
        </p:txBody>
      </p:sp>
      <p:sp>
        <p:nvSpPr>
          <p:cNvPr id="8" name="architecture-plant-copy">
            <a:extLst xmlns:a="http://schemas.openxmlformats.org/drawingml/2006/main">
              <a:ext uri="{FF2B5EF4-FFF2-40B4-BE49-F238E27FC236}">
                <a16:creationId xmlns:a16="http://schemas.microsoft.com/office/drawing/2014/main" id="{73BFA27E-7F71-4138-A4DD-26508207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rPr>
              <a:t>工况 · 配方</a:t>
            </a:r>
          </a:p>
          <a:p xmlns:a="http://schemas.openxmlformats.org/drawingml/2006/main">
            <a: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rPr>
              <a:t>温度 · 速度 · 张力</a:t>
            </a:r>
          </a:p>
          <a:p xmlns:a="http://schemas.openxmlformats.org/drawingml/2006/main">
            <a: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rPr>
              <a:t>间隙 · 厚度 · 幅宽</a:t>
            </a:r>
          </a:p>
          <a:p xmlns:a="http://schemas.openxmlformats.org/drawingml/2006/main">
            <a:pPr algn="l">
              <a:def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rPr>
              <a:t>应力 · 外观</a:t>
            </a:r>
          </a:p>
        </p:txBody>
      </p:sp>
      <p:sp>
        <p:nvSpPr>
          <p:cNvPr id="9" name="architecture-core-zone">
            <a:extLst xmlns:a="http://schemas.openxmlformats.org/drawingml/2006/main">
              <a:ext uri="{FF2B5EF4-FFF2-40B4-BE49-F238E27FC236}">
                <a16:creationId xmlns:a16="http://schemas.microsoft.com/office/drawing/2014/main" id="{73AF5E63-7373-4F0C-9340-81191E8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38350"/>
            <a:ext cx="586740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0">
            <a:solidFill>
              <a:srgbClr val="11243A"/>
            </a:solidFill>
            <a:prstDash val="solid"/>
          </a:ln>
        </p:spPr>
      </p:sp>
      <p:sp>
        <p:nvSpPr>
          <p:cNvPr id="10" name="architecture-core-title">
            <a:extLst xmlns:a="http://schemas.openxmlformats.org/drawingml/2006/main">
              <a:ext uri="{FF2B5EF4-FFF2-40B4-BE49-F238E27FC236}">
                <a16:creationId xmlns:a16="http://schemas.microsoft.com/office/drawing/2014/main" id="{863F7482-0CCC-46A4-83B7-302F4548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AgentWorkShop  优化中枢</a:t>
            </a:r>
          </a:p>
        </p:txBody>
      </p:sp>
      <p:sp>
        <p:nvSpPr>
          <p:cNvPr id="11" name="architecture-core-subtitle">
            <a:extLst xmlns:a="http://schemas.openxmlformats.org/drawingml/2006/main">
              <a:ext uri="{FF2B5EF4-FFF2-40B4-BE49-F238E27FC236}">
                <a16:creationId xmlns:a16="http://schemas.microsoft.com/office/drawing/2014/main" id="{C86AA4FD-0FC4-4F58-A92D-E5BE71F5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051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rPr>
              <a:t>智能体编排  ×  数字孪生  ×  受约束寻优</a:t>
            </a:r>
          </a:p>
        </p:txBody>
      </p:sp>
      <p:sp>
        <p:nvSpPr>
          <p:cNvPr id="12" name="architecture-core-divider">
            <a:extLst xmlns:a="http://schemas.openxmlformats.org/drawingml/2006/main">
              <a:ext uri="{FF2B5EF4-FFF2-40B4-BE49-F238E27FC236}">
                <a16:creationId xmlns:a16="http://schemas.microsoft.com/office/drawing/2014/main" id="{9AF10D59-555F-4092-86C4-DBE32D03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14675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A5066"/>
            </a:solidFill>
            <a:prstDash val="solid"/>
          </a:ln>
        </p:spPr>
      </p:sp>
      <p:sp>
        <p:nvSpPr>
          <p:cNvPr id="13" name="architecture-step-dot-1">
            <a:extLst xmlns:a="http://schemas.openxmlformats.org/drawingml/2006/main">
              <a:ext uri="{FF2B5EF4-FFF2-40B4-BE49-F238E27FC236}">
                <a16:creationId xmlns:a16="http://schemas.microsoft.com/office/drawing/2014/main" id="{68FE36A4-9FEC-4EFB-A743-26AF7E94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itecture-step-num-1">
            <a:extLst xmlns:a="http://schemas.openxmlformats.org/drawingml/2006/main">
              <a:ext uri="{FF2B5EF4-FFF2-40B4-BE49-F238E27FC236}">
                <a16:creationId xmlns:a16="http://schemas.microsoft.com/office/drawing/2014/main" id="{C555972E-04F0-4738-ACBC-2AD0791C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5" name="architecture-step-title-1">
            <a:extLst xmlns:a="http://schemas.openxmlformats.org/drawingml/2006/main">
              <a:ext uri="{FF2B5EF4-FFF2-40B4-BE49-F238E27FC236}">
                <a16:creationId xmlns:a16="http://schemas.microsoft.com/office/drawing/2014/main" id="{C15CFB86-BF5C-4700-A03E-7866A89A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814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工况快照</a:t>
            </a:r>
          </a:p>
        </p:txBody>
      </p:sp>
      <p:sp>
        <p:nvSpPr>
          <p:cNvPr id="16" name="architecture-step-body-1">
            <a:extLst xmlns:a="http://schemas.openxmlformats.org/drawingml/2006/main">
              <a:ext uri="{FF2B5EF4-FFF2-40B4-BE49-F238E27FC236}">
                <a16:creationId xmlns:a16="http://schemas.microsoft.com/office/drawing/2014/main" id="{F9B42387-A575-49A4-9D1D-2A2337E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243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rPr>
              <a:t>对齐当前状态</a:t>
            </a:r>
          </a:p>
        </p:txBody>
      </p:sp>
      <p:sp>
        <p:nvSpPr>
          <p:cNvPr id="17" name="architecture-step-dot-2">
            <a:extLst xmlns:a="http://schemas.openxmlformats.org/drawingml/2006/main">
              <a:ext uri="{FF2B5EF4-FFF2-40B4-BE49-F238E27FC236}">
                <a16:creationId xmlns:a16="http://schemas.microsoft.com/office/drawing/2014/main" id="{BBE752EB-0C01-47AD-B2AE-58226F05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itecture-step-num-2">
            <a:extLst xmlns:a="http://schemas.openxmlformats.org/drawingml/2006/main">
              <a:ext uri="{FF2B5EF4-FFF2-40B4-BE49-F238E27FC236}">
                <a16:creationId xmlns:a16="http://schemas.microsoft.com/office/drawing/2014/main" id="{7594BA58-8059-4606-A507-6A6B33FB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9" name="architecture-step-title-2">
            <a:extLst xmlns:a="http://schemas.openxmlformats.org/drawingml/2006/main">
              <a:ext uri="{FF2B5EF4-FFF2-40B4-BE49-F238E27FC236}">
                <a16:creationId xmlns:a16="http://schemas.microsoft.com/office/drawing/2014/main" id="{C7BC8846-8FFA-4DCD-9E5D-25458740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14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虚拟试验</a:t>
            </a:r>
          </a:p>
        </p:txBody>
      </p:sp>
      <p:sp>
        <p:nvSpPr>
          <p:cNvPr id="20" name="architecture-step-body-2">
            <a:extLst xmlns:a="http://schemas.openxmlformats.org/drawingml/2006/main">
              <a:ext uri="{FF2B5EF4-FFF2-40B4-BE49-F238E27FC236}">
                <a16:creationId xmlns:a16="http://schemas.microsoft.com/office/drawing/2014/main" id="{7A864F23-C449-4295-8F2C-D4FDC96B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243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rPr>
              <a:t>预测候选变化</a:t>
            </a:r>
          </a:p>
        </p:txBody>
      </p:sp>
      <p:sp>
        <p:nvSpPr>
          <p:cNvPr id="21" name="architecture-step-dot-3">
            <a:extLst xmlns:a="http://schemas.openxmlformats.org/drawingml/2006/main">
              <a:ext uri="{FF2B5EF4-FFF2-40B4-BE49-F238E27FC236}">
                <a16:creationId xmlns:a16="http://schemas.microsoft.com/office/drawing/2014/main" id="{40AA6B2A-F8F9-43BA-B080-D8AC7E0D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E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chitecture-step-num-3">
            <a:extLst xmlns:a="http://schemas.openxmlformats.org/drawingml/2006/main">
              <a:ext uri="{FF2B5EF4-FFF2-40B4-BE49-F238E27FC236}">
                <a16:creationId xmlns:a16="http://schemas.microsoft.com/office/drawing/2014/main" id="{BCC7483F-0992-4C3C-8BC8-5D34BC01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" name="architecture-step-title-3">
            <a:extLst xmlns:a="http://schemas.openxmlformats.org/drawingml/2006/main">
              <a:ext uri="{FF2B5EF4-FFF2-40B4-BE49-F238E27FC236}">
                <a16:creationId xmlns:a16="http://schemas.microsoft.com/office/drawing/2014/main" id="{315A669C-4889-4AF9-ADEA-3957ACD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安全门禁</a:t>
            </a:r>
          </a:p>
        </p:txBody>
      </p:sp>
      <p:sp>
        <p:nvSpPr>
          <p:cNvPr id="24" name="architecture-step-body-3">
            <a:extLst xmlns:a="http://schemas.openxmlformats.org/drawingml/2006/main">
              <a:ext uri="{FF2B5EF4-FFF2-40B4-BE49-F238E27FC236}">
                <a16:creationId xmlns:a16="http://schemas.microsoft.com/office/drawing/2014/main" id="{7FE7E3E3-A04D-4A4D-8B75-2581CF6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rPr>
              <a:t>UQ/OOD + 互校</a:t>
            </a:r>
          </a:p>
        </p:txBody>
      </p:sp>
      <p:sp>
        <p:nvSpPr>
          <p:cNvPr id="25" name="architecture-step-dot-4">
            <a:extLst xmlns:a="http://schemas.openxmlformats.org/drawingml/2006/main">
              <a:ext uri="{FF2B5EF4-FFF2-40B4-BE49-F238E27FC236}">
                <a16:creationId xmlns:a16="http://schemas.microsoft.com/office/drawing/2014/main" id="{B6FE5910-861A-4E17-8766-40A3A2E9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itecture-step-num-4">
            <a:extLst xmlns:a="http://schemas.openxmlformats.org/drawingml/2006/main">
              <a:ext uri="{FF2B5EF4-FFF2-40B4-BE49-F238E27FC236}">
                <a16:creationId xmlns:a16="http://schemas.microsoft.com/office/drawing/2014/main" id="{F787F9DC-99AE-473D-B7AF-DAE470D9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43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7" name="architecture-step-title-4">
            <a:extLst xmlns:a="http://schemas.openxmlformats.org/drawingml/2006/main">
              <a:ext uri="{FF2B5EF4-FFF2-40B4-BE49-F238E27FC236}">
                <a16:creationId xmlns:a16="http://schemas.microsoft.com/office/drawing/2014/main" id="{E4CF15D1-DC73-4DF5-B7DB-7AFA7BA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814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建议审批</a:t>
            </a:r>
          </a:p>
        </p:txBody>
      </p:sp>
      <p:sp>
        <p:nvSpPr>
          <p:cNvPr id="28" name="architecture-step-body-4">
            <a:extLst xmlns:a="http://schemas.openxmlformats.org/drawingml/2006/main">
              <a:ext uri="{FF2B5EF4-FFF2-40B4-BE49-F238E27FC236}">
                <a16:creationId xmlns:a16="http://schemas.microsoft.com/office/drawing/2014/main" id="{A7F77346-1820-4251-9D43-9B25E4F4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243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C6D4"/>
                </a:solidFill>
                <a:latin typeface="Microsoft YaHei"/>
                <a:ea typeface="Microsoft YaHei"/>
                <a:cs typeface="Microsoft YaHei"/>
              </a:rPr>
              <a:t>HITL 人工确认</a:t>
            </a:r>
          </a:p>
        </p:txBody>
      </p:sp>
      <p:sp>
        <p:nvSpPr>
          <p:cNvPr id="29" name="architecture-step-arrow-1">
            <a:extLst xmlns:a="http://schemas.openxmlformats.org/drawingml/2006/main">
              <a:ext uri="{FF2B5EF4-FFF2-40B4-BE49-F238E27FC236}">
                <a16:creationId xmlns:a16="http://schemas.microsoft.com/office/drawing/2014/main" id="{24395197-D9F5-47D5-9F7D-99296002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>
            <a:def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architecture-step-arrow-2">
            <a:extLst xmlns:a="http://schemas.openxmlformats.org/drawingml/2006/main">
              <a:ext uri="{FF2B5EF4-FFF2-40B4-BE49-F238E27FC236}">
                <a16:creationId xmlns:a16="http://schemas.microsoft.com/office/drawing/2014/main" id="{0E108491-FB9D-43B2-999A-946A1D2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90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>
            <a:def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architecture-step-arrow-3">
            <a:extLst xmlns:a="http://schemas.openxmlformats.org/drawingml/2006/main">
              <a:ext uri="{FF2B5EF4-FFF2-40B4-BE49-F238E27FC236}">
                <a16:creationId xmlns:a16="http://schemas.microsoft.com/office/drawing/2014/main" id="{E17DB88D-56BC-4EA1-A0DE-4B23E62B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>
            <a:def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1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architecture-execution-zone">
            <a:extLst xmlns:a="http://schemas.openxmlformats.org/drawingml/2006/main">
              <a:ext uri="{FF2B5EF4-FFF2-40B4-BE49-F238E27FC236}">
                <a16:creationId xmlns:a16="http://schemas.microsoft.com/office/drawing/2014/main" id="{0B394DA7-6E49-4A1A-A76D-75D32FDF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764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DF"/>
            </a:solidFill>
            <a:prstDash val="solid"/>
          </a:ln>
        </p:spPr>
      </p:sp>
      <p:sp>
        <p:nvSpPr>
          <p:cNvPr id="33" name="architecture-execution-accent">
            <a:extLst xmlns:a="http://schemas.openxmlformats.org/drawingml/2006/main">
              <a:ext uri="{FF2B5EF4-FFF2-40B4-BE49-F238E27FC236}">
                <a16:creationId xmlns:a16="http://schemas.microsoft.com/office/drawing/2014/main" id="{416D7DCA-9476-4F72-BA3A-DC38DB7F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6667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rchitecture-execution-index">
            <a:extLst xmlns:a="http://schemas.openxmlformats.org/drawingml/2006/main">
              <a:ext uri="{FF2B5EF4-FFF2-40B4-BE49-F238E27FC236}">
                <a16:creationId xmlns:a16="http://schemas.microsoft.com/office/drawing/2014/main" id="{2E0B1A12-2BDB-4E5A-BD6D-E2F853A1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90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rPr>
              <a:t>02   受控写入</a:t>
            </a:r>
          </a:p>
        </p:txBody>
      </p:sp>
      <p:sp>
        <p:nvSpPr>
          <p:cNvPr id="35" name="architecture-execution-title">
            <a:extLst xmlns:a="http://schemas.openxmlformats.org/drawingml/2006/main">
              <a:ext uri="{FF2B5EF4-FFF2-40B4-BE49-F238E27FC236}">
                <a16:creationId xmlns:a16="http://schemas.microsoft.com/office/drawing/2014/main" id="{D1002B55-173D-4692-A9D8-06082E88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rPr>
              <a:t>DCW 网关</a:t>
            </a:r>
          </a:p>
        </p:txBody>
      </p:sp>
      <p:sp>
        <p:nvSpPr>
          <p:cNvPr id="36" name="architecture-execution-copy">
            <a:extLst xmlns:a="http://schemas.openxmlformats.org/drawingml/2006/main">
              <a:ext uri="{FF2B5EF4-FFF2-40B4-BE49-F238E27FC236}">
                <a16:creationId xmlns:a16="http://schemas.microsoft.com/office/drawing/2014/main" id="{89C5F0F5-00AF-4D79-A023-9F7CE04A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0425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39"/>
          </a:bodyPr>
          <a:lstStyle xmlns:a="http://schemas.openxmlformats.org/drawingml/2006/main">
            <a:def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rPr>
              <a:t>批准后 recipe 下发</a:t>
            </a:r>
          </a:p>
          <a:p xmlns:a="http://schemas.openxmlformats.org/drawingml/2006/main">
            <a: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rPr>
              <a:t>设备回读验证</a:t>
            </a:r>
          </a:p>
          <a:p xmlns:a="http://schemas.openxmlformats.org/drawingml/2006/main">
            <a:pPr algn="l">
              <a:def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88A"/>
                </a:solidFill>
                <a:latin typeface="Microsoft YaHei"/>
                <a:ea typeface="Microsoft YaHei"/>
                <a:cs typeface="Microsoft YaHei"/>
              </a:rPr>
              <a:t>DAQ / MES 质量复测</a:t>
            </a:r>
          </a:p>
        </p:txBody>
      </p:sp>
      <p:sp>
        <p:nvSpPr>
          <p:cNvPr id="37" name="architecture-input-line">
            <a:extLst xmlns:a="http://schemas.openxmlformats.org/drawingml/2006/main">
              <a:ext uri="{FF2B5EF4-FFF2-40B4-BE49-F238E27FC236}">
                <a16:creationId xmlns:a16="http://schemas.microsoft.com/office/drawing/2014/main" id="{55F8CC72-8CF8-4B06-84F1-7C892F46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4D70F5"/>
            </a:solidFill>
            <a:prstDash val="solid"/>
          </a:ln>
        </p:spPr>
      </p:sp>
      <p:sp>
        <p:nvSpPr>
          <p:cNvPr id="38" name="architecture-input-arrow">
            <a:extLst xmlns:a="http://schemas.openxmlformats.org/drawingml/2006/main">
              <a:ext uri="{FF2B5EF4-FFF2-40B4-BE49-F238E27FC236}">
                <a16:creationId xmlns:a16="http://schemas.microsoft.com/office/drawing/2014/main" id="{F673B4C5-0938-4C96-AEEE-46D7FC5C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81350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679"/>
          </a:bodyPr>
          <a:lstStyle xmlns:a="http://schemas.openxmlformats.org/drawingml/2006/main">
            <a:def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D70F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architecture-output-line">
            <a:extLst xmlns:a="http://schemas.openxmlformats.org/drawingml/2006/main">
              <a:ext uri="{FF2B5EF4-FFF2-40B4-BE49-F238E27FC236}">
                <a16:creationId xmlns:a16="http://schemas.microsoft.com/office/drawing/2014/main" id="{93734155-D288-40E0-9F85-768FBB4B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F8C70"/>
            </a:solidFill>
            <a:prstDash val="solid"/>
          </a:ln>
        </p:spPr>
      </p:sp>
      <p:sp>
        <p:nvSpPr>
          <p:cNvPr id="40" name="architecture-output-arrow">
            <a:extLst xmlns:a="http://schemas.openxmlformats.org/drawingml/2006/main">
              <a:ext uri="{FF2B5EF4-FFF2-40B4-BE49-F238E27FC236}">
                <a16:creationId xmlns:a16="http://schemas.microsoft.com/office/drawing/2014/main" id="{15C515A3-F78A-480C-BF4A-02501C9A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679"/>
          </a:bodyPr>
          <a:lstStyle xmlns:a="http://schemas.openxmlformats.org/drawingml/2006/main">
            <a:def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8C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architecture-feedback-vertical-right">
            <a:extLst xmlns:a="http://schemas.openxmlformats.org/drawingml/2006/main">
              <a:ext uri="{FF2B5EF4-FFF2-40B4-BE49-F238E27FC236}">
                <a16:creationId xmlns:a16="http://schemas.microsoft.com/office/drawing/2014/main" id="{0FF1410B-1983-48F4-A3D1-25FE13E4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243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A5A9"/>
            </a:solidFill>
            <a:prstDash val="solid"/>
          </a:ln>
        </p:spPr>
      </p:sp>
      <p:sp>
        <p:nvSpPr>
          <p:cNvPr id="42" name="architecture-feedback-rail">
            <a:extLst xmlns:a="http://schemas.openxmlformats.org/drawingml/2006/main">
              <a:ext uri="{FF2B5EF4-FFF2-40B4-BE49-F238E27FC236}">
                <a16:creationId xmlns:a16="http://schemas.microsoft.com/office/drawing/2014/main" id="{39ADF5C7-90CD-4B8B-AA7E-A739EC80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A5A9"/>
            </a:solidFill>
            <a:prstDash val="solid"/>
          </a:ln>
        </p:spPr>
      </p:sp>
      <p:sp>
        <p:nvSpPr>
          <p:cNvPr id="43" name="architecture-feedback-vertical-left">
            <a:extLst xmlns:a="http://schemas.openxmlformats.org/drawingml/2006/main">
              <a:ext uri="{FF2B5EF4-FFF2-40B4-BE49-F238E27FC236}">
                <a16:creationId xmlns:a16="http://schemas.microsoft.com/office/drawing/2014/main" id="{12EB1351-7747-432C-B2F0-5D39B4DB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A5A9"/>
            </a:solidFill>
            <a:prstDash val="solid"/>
          </a:ln>
        </p:spPr>
      </p:sp>
      <p:sp>
        <p:nvSpPr>
          <p:cNvPr id="44" name="architecture-feedback-arrow">
            <a:extLst xmlns:a="http://schemas.openxmlformats.org/drawingml/2006/main">
              <a:ext uri="{FF2B5EF4-FFF2-40B4-BE49-F238E27FC236}">
                <a16:creationId xmlns:a16="http://schemas.microsoft.com/office/drawing/2014/main" id="{68E1C882-C5FA-4E74-9AFC-E09BAE4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DA5A9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45" name="architecture-feedback-label-bg">
            <a:extLst xmlns:a="http://schemas.openxmlformats.org/drawingml/2006/main">
              <a:ext uri="{FF2B5EF4-FFF2-40B4-BE49-F238E27FC236}">
                <a16:creationId xmlns:a16="http://schemas.microsoft.com/office/drawing/2014/main" id="{5AB3391E-3A36-40AE-A1D3-61E828A4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91075"/>
            <a:ext cx="3200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F5F6F2"/>
            </a:solidFill>
            <a:prstDash val="solid"/>
          </a:ln>
        </p:spPr>
      </p:sp>
      <p:sp>
        <p:nvSpPr>
          <p:cNvPr id="46" name="architecture-feedback-label">
            <a:extLst xmlns:a="http://schemas.openxmlformats.org/drawingml/2006/main">
              <a:ext uri="{FF2B5EF4-FFF2-40B4-BE49-F238E27FC236}">
                <a16:creationId xmlns:a16="http://schemas.microsoft.com/office/drawing/2014/main" id="{062B230E-206E-43C0-A5B4-AB42EAFF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006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rPr>
              <a:t>回读与质量反馈   →   下一轮工况快照</a:t>
            </a:r>
          </a:p>
        </p:txBody>
      </p:sp>
      <p:sp>
        <p:nvSpPr>
          <p:cNvPr id="47" name="architecture-memory-band">
            <a:extLst xmlns:a="http://schemas.openxmlformats.org/drawingml/2006/main">
              <a:ext uri="{FF2B5EF4-FFF2-40B4-BE49-F238E27FC236}">
                <a16:creationId xmlns:a16="http://schemas.microsoft.com/office/drawing/2014/main" id="{6B744BE9-5546-4902-AF3D-2B6740AC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57825"/>
            <a:ext cx="5867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6EFED"/>
          </a:solidFill>
          <a:ln xmlns:a="http://schemas.openxmlformats.org/drawingml/2006/main" w="9525">
            <a:solidFill>
              <a:srgbClr val="CEDCDA"/>
            </a:solidFill>
            <a:prstDash val="solid"/>
          </a:ln>
        </p:spPr>
      </p:sp>
      <p:sp>
        <p:nvSpPr>
          <p:cNvPr id="48" name="architecture-memory-title">
            <a:extLst xmlns:a="http://schemas.openxmlformats.org/drawingml/2006/main">
              <a:ext uri="{FF2B5EF4-FFF2-40B4-BE49-F238E27FC236}">
                <a16:creationId xmlns:a16="http://schemas.microsoft.com/office/drawing/2014/main" id="{96C4DE6C-5355-4977-B438-57590BD8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626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238"/>
                </a:solidFill>
                <a:latin typeface="Microsoft YaHei"/>
                <a:ea typeface="Microsoft YaHei"/>
                <a:cs typeface="Microsoft YaHei"/>
              </a:rPr>
              <a:t>知识与记忆</a:t>
            </a:r>
          </a:p>
        </p:txBody>
      </p:sp>
      <p:sp>
        <p:nvSpPr>
          <p:cNvPr id="49" name="architecture-memory-copy">
            <a:extLst xmlns:a="http://schemas.openxmlformats.org/drawingml/2006/main">
              <a:ext uri="{FF2B5EF4-FFF2-40B4-BE49-F238E27FC236}">
                <a16:creationId xmlns:a16="http://schemas.microsoft.com/office/drawing/2014/main" id="{6E5A51D3-D365-42FC-BF91-C4FAE310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E6C70"/>
                </a:solidFill>
                <a:latin typeface="Microsoft YaHei"/>
                <a:ea typeface="Microsoft YaHei"/>
                <a:cs typeface="Microsoft YaHei"/>
              </a:rPr>
              <a:t>RAG 检索历史经验  ·  已验证结论沉淀</a:t>
            </a:r>
          </a:p>
        </p:txBody>
      </p:sp>
      <p:sp>
        <p:nvSpPr>
          <p:cNvPr id="50" name="architecture-memory-link-left">
            <a:extLst xmlns:a="http://schemas.openxmlformats.org/drawingml/2006/main">
              <a:ext uri="{FF2B5EF4-FFF2-40B4-BE49-F238E27FC236}">
                <a16:creationId xmlns:a16="http://schemas.microsoft.com/office/drawing/2014/main" id="{7D1AC63F-3164-4688-8F80-7B3EF370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7682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3AFA6"/>
            </a:solidFill>
            <a:prstDash val="solid"/>
          </a:ln>
        </p:spPr>
      </p:sp>
      <p:sp>
        <p:nvSpPr>
          <p:cNvPr id="51" name="architecture-memory-link-right">
            <a:extLst xmlns:a="http://schemas.openxmlformats.org/drawingml/2006/main">
              <a:ext uri="{FF2B5EF4-FFF2-40B4-BE49-F238E27FC236}">
                <a16:creationId xmlns:a16="http://schemas.microsoft.com/office/drawing/2014/main" id="{57AA9306-DF3F-4CE4-A031-689647B3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7682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3AFA6"/>
            </a:solidFill>
            <a:prstDash val="solid"/>
          </a:ln>
        </p:spPr>
      </p:sp>
      <p:sp>
        <p:nvSpPr>
          <p:cNvPr id="52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6C6DEC7F-7D9A-439A-ABD4-63603917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rPr>
              <a:t>场景参数取自原稿；实际接入按现场数据点、配方与授权边界绑定</a:t>
            </a:r>
          </a:p>
        </p:txBody>
      </p:sp>
      <p:sp>
        <p:nvSpPr>
          <p:cNvPr id="53" name="architecture-page-number">
            <a:extLst xmlns:a="http://schemas.openxmlformats.org/drawingml/2006/main">
              <a:ext uri="{FF2B5EF4-FFF2-40B4-BE49-F238E27FC236}">
                <a16:creationId xmlns:a16="http://schemas.microsoft.com/office/drawing/2014/main" id="{56D25916-F49C-4B45-9728-C0BB9322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C8A91"/>
                </a:solidFill>
                <a:latin typeface="Microsoft YaHei"/>
                <a:ea typeface="Microsoft YaHei"/>
                <a:cs typeface="Microsoft YaHei"/>
              </a:rPr>
              <a:t>02  /  03</a:t>
            </a:r>
          </a:p>
        </p:txBody>
      </p:sp>
    </p:spTree>
    <p:extLst>
      <p:ext uri="{BB962C8B-B14F-4D97-AF65-F5344CB8AC3E}">
        <p14:creationId xmlns:p14="http://schemas.microsoft.com/office/powerpoint/2010/main" val="2044948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loops-eyebrow">
            <a:extLst xmlns:a="http://schemas.openxmlformats.org/drawingml/2006/main">
              <a:ext uri="{FF2B5EF4-FFF2-40B4-BE49-F238E27FC236}">
                <a16:creationId xmlns:a16="http://schemas.microsoft.com/office/drawing/2014/main" id="{B5F417DC-F3D0-424A-8B40-D56EE466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rPr>
              <a:t>02   /   OPERATING LOGIC</a:t>
            </a:r>
          </a:p>
        </p:txBody>
      </p:sp>
      <p:sp>
        <p:nvSpPr>
          <p:cNvPr id="2" name="loops-title">
            <a:extLst xmlns:a="http://schemas.openxmlformats.org/drawingml/2006/main">
              <a:ext uri="{FF2B5EF4-FFF2-40B4-BE49-F238E27FC236}">
                <a16:creationId xmlns:a16="http://schemas.microsoft.com/office/drawing/2014/main" id="{6D3D1885-DD2F-4650-A090-FD744D2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两条回路，让优化受控、模型持续变准</a:t>
            </a:r>
          </a:p>
        </p:txBody>
      </p:sp>
      <p:sp>
        <p:nvSpPr>
          <p:cNvPr id="3" name="loops-subtitle">
            <a:extLst xmlns:a="http://schemas.openxmlformats.org/drawingml/2006/main">
              <a:ext uri="{FF2B5EF4-FFF2-40B4-BE49-F238E27FC236}">
                <a16:creationId xmlns:a16="http://schemas.microsoft.com/office/drawing/2014/main" id="{F9F1A7EC-B4B2-4E5D-9436-77556558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9C5"/>
                </a:solidFill>
                <a:latin typeface="Microsoft YaHei"/>
                <a:ea typeface="Microsoft YaHei"/>
                <a:cs typeface="Microsoft YaHei"/>
              </a:rPr>
              <a:t>工艺调整按轮验证；模型改进经过数据门禁与版本审批后再参与下一轮求解</a:t>
            </a:r>
          </a:p>
        </p:txBody>
      </p:sp>
      <p:sp>
        <p:nvSpPr>
          <p:cNvPr id="4" name="fast-loop-label">
            <a:extLst xmlns:a="http://schemas.openxmlformats.org/drawingml/2006/main">
              <a:ext uri="{FF2B5EF4-FFF2-40B4-BE49-F238E27FC236}">
                <a16:creationId xmlns:a16="http://schemas.microsoft.com/office/drawing/2014/main" id="{9F83C859-4CB1-428B-B618-1062CAB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rPr>
              <a:t>快环   /   工艺参数优化</a:t>
            </a:r>
          </a:p>
        </p:txBody>
      </p:sp>
      <p:sp>
        <p:nvSpPr>
          <p:cNvPr id="5" name="fast-loop-axis">
            <a:extLst xmlns:a="http://schemas.openxmlformats.org/drawingml/2006/main">
              <a:ext uri="{FF2B5EF4-FFF2-40B4-BE49-F238E27FC236}">
                <a16:creationId xmlns:a16="http://schemas.microsoft.com/office/drawing/2014/main" id="{725EA2AF-D3E5-4AD5-8473-618D519E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958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16A"/>
            </a:solidFill>
            <a:prstDash val="solid"/>
          </a:ln>
        </p:spPr>
      </p:sp>
      <p:sp>
        <p:nvSpPr>
          <p:cNvPr id="6" name="fast-node-1">
            <a:extLst xmlns:a="http://schemas.openxmlformats.org/drawingml/2006/main">
              <a:ext uri="{FF2B5EF4-FFF2-40B4-BE49-F238E27FC236}">
                <a16:creationId xmlns:a16="http://schemas.microsoft.com/office/drawing/2014/main" id="{459D8876-569F-4171-96B5-FCBC5192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st-title-1">
            <a:extLst xmlns:a="http://schemas.openxmlformats.org/drawingml/2006/main">
              <a:ext uri="{FF2B5EF4-FFF2-40B4-BE49-F238E27FC236}">
                <a16:creationId xmlns:a16="http://schemas.microsoft.com/office/drawing/2014/main" id="{F34D6464-D16D-4485-868B-13772C81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读取工况</a:t>
            </a:r>
          </a:p>
        </p:txBody>
      </p:sp>
      <p:sp>
        <p:nvSpPr>
          <p:cNvPr id="8" name="fast-body-1">
            <a:extLst xmlns:a="http://schemas.openxmlformats.org/drawingml/2006/main">
              <a:ext uri="{FF2B5EF4-FFF2-40B4-BE49-F238E27FC236}">
                <a16:creationId xmlns:a16="http://schemas.microsoft.com/office/drawing/2014/main" id="{DDDCD7EC-6D86-4A1B-9073-2E5DD72A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当前状态 + 目标</a:t>
            </a:r>
          </a:p>
        </p:txBody>
      </p:sp>
      <p:sp>
        <p:nvSpPr>
          <p:cNvPr id="9" name="fast-arrow-1">
            <a:extLst xmlns:a="http://schemas.openxmlformats.org/drawingml/2006/main">
              <a:ext uri="{FF2B5EF4-FFF2-40B4-BE49-F238E27FC236}">
                <a16:creationId xmlns:a16="http://schemas.microsoft.com/office/drawing/2014/main" id="{5A37ED8B-AF38-4452-B038-93F9B20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ast-node-2">
            <a:extLst xmlns:a="http://schemas.openxmlformats.org/drawingml/2006/main">
              <a:ext uri="{FF2B5EF4-FFF2-40B4-BE49-F238E27FC236}">
                <a16:creationId xmlns:a16="http://schemas.microsoft.com/office/drawing/2014/main" id="{40682218-A8F8-460A-92E0-6A5FDDD6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ast-title-2">
            <a:extLst xmlns:a="http://schemas.openxmlformats.org/drawingml/2006/main">
              <a:ext uri="{FF2B5EF4-FFF2-40B4-BE49-F238E27FC236}">
                <a16:creationId xmlns:a16="http://schemas.microsoft.com/office/drawing/2014/main" id="{C601F1D5-8CA5-46D2-9CFD-6742A132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98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受约束求解</a:t>
            </a:r>
          </a:p>
        </p:txBody>
      </p:sp>
      <p:sp>
        <p:nvSpPr>
          <p:cNvPr id="12" name="fast-body-2">
            <a:extLst xmlns:a="http://schemas.openxmlformats.org/drawingml/2006/main">
              <a:ext uri="{FF2B5EF4-FFF2-40B4-BE49-F238E27FC236}">
                <a16:creationId xmlns:a16="http://schemas.microsoft.com/office/drawing/2014/main" id="{9AA775CA-2252-4012-BC47-3F8E4AC8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09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Twin 试验 / 候选</a:t>
            </a:r>
          </a:p>
        </p:txBody>
      </p:sp>
      <p:sp>
        <p:nvSpPr>
          <p:cNvPr id="13" name="fast-arrow-2">
            <a:extLst xmlns:a="http://schemas.openxmlformats.org/drawingml/2006/main">
              <a:ext uri="{FF2B5EF4-FFF2-40B4-BE49-F238E27FC236}">
                <a16:creationId xmlns:a16="http://schemas.microsoft.com/office/drawing/2014/main" id="{00E45DC5-A300-4952-82B4-F36C23AF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fast-node-3">
            <a:extLst xmlns:a="http://schemas.openxmlformats.org/drawingml/2006/main">
              <a:ext uri="{FF2B5EF4-FFF2-40B4-BE49-F238E27FC236}">
                <a16:creationId xmlns:a16="http://schemas.microsoft.com/office/drawing/2014/main" id="{6A1C82CA-1F28-4372-B065-5BC8AB43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E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ast-title-3">
            <a:extLst xmlns:a="http://schemas.openxmlformats.org/drawingml/2006/main">
              <a:ext uri="{FF2B5EF4-FFF2-40B4-BE49-F238E27FC236}">
                <a16:creationId xmlns:a16="http://schemas.microsoft.com/office/drawing/2014/main" id="{4EA32919-5414-4518-B707-B2831FFD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98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安全互校</a:t>
            </a:r>
          </a:p>
        </p:txBody>
      </p:sp>
      <p:sp>
        <p:nvSpPr>
          <p:cNvPr id="16" name="fast-body-3">
            <a:extLst xmlns:a="http://schemas.openxmlformats.org/drawingml/2006/main">
              <a:ext uri="{FF2B5EF4-FFF2-40B4-BE49-F238E27FC236}">
                <a16:creationId xmlns:a16="http://schemas.microsoft.com/office/drawing/2014/main" id="{B8CB57BD-681F-4C74-939B-C31CE7C7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9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UQ/OOD / 一致性</a:t>
            </a:r>
          </a:p>
        </p:txBody>
      </p:sp>
      <p:sp>
        <p:nvSpPr>
          <p:cNvPr id="17" name="fast-arrow-3">
            <a:extLst xmlns:a="http://schemas.openxmlformats.org/drawingml/2006/main">
              <a:ext uri="{FF2B5EF4-FFF2-40B4-BE49-F238E27FC236}">
                <a16:creationId xmlns:a16="http://schemas.microsoft.com/office/drawing/2014/main" id="{91497CB9-322B-451C-94A0-D5DE1FE3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fast-node-4">
            <a:extLst xmlns:a="http://schemas.openxmlformats.org/drawingml/2006/main">
              <a:ext uri="{FF2B5EF4-FFF2-40B4-BE49-F238E27FC236}">
                <a16:creationId xmlns:a16="http://schemas.microsoft.com/office/drawing/2014/main" id="{2417DDD4-0D5B-4D25-8796-36719AF0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ast-title-4">
            <a:extLst xmlns:a="http://schemas.openxmlformats.org/drawingml/2006/main">
              <a:ext uri="{FF2B5EF4-FFF2-40B4-BE49-F238E27FC236}">
                <a16:creationId xmlns:a16="http://schemas.microsoft.com/office/drawing/2014/main" id="{BC049144-0B5A-4DAD-A259-8EA87F02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98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人工批准</a:t>
            </a:r>
          </a:p>
        </p:txBody>
      </p:sp>
      <p:sp>
        <p:nvSpPr>
          <p:cNvPr id="20" name="fast-body-4">
            <a:extLst xmlns:a="http://schemas.openxmlformats.org/drawingml/2006/main">
              <a:ext uri="{FF2B5EF4-FFF2-40B4-BE49-F238E27FC236}">
                <a16:creationId xmlns:a16="http://schemas.microsoft.com/office/drawing/2014/main" id="{EDBB227C-AF79-43EB-AEBC-2B90207E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9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HITL → DCW</a:t>
            </a:r>
          </a:p>
        </p:txBody>
      </p:sp>
      <p:sp>
        <p:nvSpPr>
          <p:cNvPr id="21" name="fast-arrow-4">
            <a:extLst xmlns:a="http://schemas.openxmlformats.org/drawingml/2006/main">
              <a:ext uri="{FF2B5EF4-FFF2-40B4-BE49-F238E27FC236}">
                <a16:creationId xmlns:a16="http://schemas.microsoft.com/office/drawing/2014/main" id="{972EE350-7942-4B38-A4E8-E121174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790A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fast-node-5">
            <a:extLst xmlns:a="http://schemas.openxmlformats.org/drawingml/2006/main">
              <a:ext uri="{FF2B5EF4-FFF2-40B4-BE49-F238E27FC236}">
                <a16:creationId xmlns:a16="http://schemas.microsoft.com/office/drawing/2014/main" id="{F1FF2F0D-D408-43CF-911D-227B9A47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st-title-5">
            <a:extLst xmlns:a="http://schemas.openxmlformats.org/drawingml/2006/main">
              <a:ext uri="{FF2B5EF4-FFF2-40B4-BE49-F238E27FC236}">
                <a16:creationId xmlns:a16="http://schemas.microsoft.com/office/drawing/2014/main" id="{7D141D47-25D1-4327-A714-82DB7C78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982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回读与复测</a:t>
            </a:r>
          </a:p>
        </p:txBody>
      </p:sp>
      <p:sp>
        <p:nvSpPr>
          <p:cNvPr id="24" name="fast-body-5">
            <a:extLst xmlns:a="http://schemas.openxmlformats.org/drawingml/2006/main">
              <a:ext uri="{FF2B5EF4-FFF2-40B4-BE49-F238E27FC236}">
                <a16:creationId xmlns:a16="http://schemas.microsoft.com/office/drawing/2014/main" id="{0BEFF3E1-5732-482C-9F14-F9E8413C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99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现场值 × 质量反馈</a:t>
            </a:r>
          </a:p>
        </p:txBody>
      </p:sp>
      <p:sp>
        <p:nvSpPr>
          <p:cNvPr id="25" name="fast-return-right">
            <a:extLst xmlns:a="http://schemas.openxmlformats.org/drawingml/2006/main">
              <a:ext uri="{FF2B5EF4-FFF2-40B4-BE49-F238E27FC236}">
                <a16:creationId xmlns:a16="http://schemas.microsoft.com/office/drawing/2014/main" id="{FC10C6E1-98B7-4AC9-8CEE-3AA44E16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62350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8C9A"/>
            </a:solidFill>
            <a:prstDash val="solid"/>
          </a:ln>
        </p:spPr>
      </p:sp>
      <p:sp>
        <p:nvSpPr>
          <p:cNvPr id="26" name="fast-return-rail">
            <a:extLst xmlns:a="http://schemas.openxmlformats.org/drawingml/2006/main">
              <a:ext uri="{FF2B5EF4-FFF2-40B4-BE49-F238E27FC236}">
                <a16:creationId xmlns:a16="http://schemas.microsoft.com/office/drawing/2014/main" id="{6F6EDD35-DF90-4CD7-B815-1016CE4C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14775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8C9A"/>
            </a:solidFill>
            <a:prstDash val="solid"/>
          </a:ln>
        </p:spPr>
      </p:sp>
      <p:sp>
        <p:nvSpPr>
          <p:cNvPr id="27" name="fast-return-arrow">
            <a:extLst xmlns:a="http://schemas.openxmlformats.org/drawingml/2006/main">
              <a:ext uri="{FF2B5EF4-FFF2-40B4-BE49-F238E27FC236}">
                <a16:creationId xmlns:a16="http://schemas.microsoft.com/office/drawing/2014/main" id="{355F8EB8-D5D5-45DC-A0EA-88F5C0F7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623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8" name="fast-return-copy">
            <a:extLst xmlns:a="http://schemas.openxmlformats.org/drawingml/2006/main">
              <a:ext uri="{FF2B5EF4-FFF2-40B4-BE49-F238E27FC236}">
                <a16:creationId xmlns:a16="http://schemas.microsoft.com/office/drawing/2014/main" id="{02BF96A0-5F3F-461D-AF99-F9BEB312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1D6C5"/>
                </a:solidFill>
                <a:latin typeface="Microsoft YaHei"/>
                <a:ea typeface="Microsoft YaHei"/>
                <a:cs typeface="Microsoft YaHei"/>
              </a:rPr>
              <a:t>目标未达成：返回下一轮</a:t>
            </a:r>
          </a:p>
        </p:txBody>
      </p:sp>
      <p:sp>
        <p:nvSpPr>
          <p:cNvPr id="29" name="fast-success-copy">
            <a:extLst xmlns:a="http://schemas.openxmlformats.org/drawingml/2006/main">
              <a:ext uri="{FF2B5EF4-FFF2-40B4-BE49-F238E27FC236}">
                <a16:creationId xmlns:a16="http://schemas.microsoft.com/office/drawing/2014/main" id="{063B82DA-DAEE-4C04-BC96-E8EF9430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5623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rPr>
              <a:t>目标达成   →   参数固化 · 经验沉淀</a:t>
            </a:r>
          </a:p>
        </p:txBody>
      </p:sp>
      <p:sp>
        <p:nvSpPr>
          <p:cNvPr id="30" name="loops-section-divider">
            <a:extLst xmlns:a="http://schemas.openxmlformats.org/drawingml/2006/main">
              <a:ext uri="{FF2B5EF4-FFF2-40B4-BE49-F238E27FC236}">
                <a16:creationId xmlns:a16="http://schemas.microsoft.com/office/drawing/2014/main" id="{79772288-C00D-4C19-8452-FE30EE42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3D51"/>
            </a:solidFill>
            <a:prstDash val="solid"/>
          </a:ln>
        </p:spPr>
      </p:sp>
      <p:sp>
        <p:nvSpPr>
          <p:cNvPr id="31" name="slow-loop-label">
            <a:extLst xmlns:a="http://schemas.openxmlformats.org/drawingml/2006/main">
              <a:ext uri="{FF2B5EF4-FFF2-40B4-BE49-F238E27FC236}">
                <a16:creationId xmlns:a16="http://schemas.microsoft.com/office/drawing/2014/main" id="{6E7247B3-10ED-4E2E-9C68-46C7716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6E878"/>
                </a:solidFill>
                <a:latin typeface="Microsoft YaHei"/>
                <a:ea typeface="Microsoft YaHei"/>
                <a:cs typeface="Microsoft YaHei"/>
              </a:rPr>
              <a:t>慢环   /   模型校准与晋升</a:t>
            </a:r>
          </a:p>
        </p:txBody>
      </p:sp>
      <p:sp>
        <p:nvSpPr>
          <p:cNvPr id="32" name="slow-node-rule-1">
            <a:extLst xmlns:a="http://schemas.openxmlformats.org/drawingml/2006/main">
              <a:ext uri="{FF2B5EF4-FFF2-40B4-BE49-F238E27FC236}">
                <a16:creationId xmlns:a16="http://schemas.microsoft.com/office/drawing/2014/main" id="{A52E53C6-B56C-4376-AA3B-0DED00DA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1D6C5"/>
            </a:solidFill>
            <a:prstDash val="solid"/>
          </a:ln>
        </p:spPr>
      </p:sp>
      <p:sp>
        <p:nvSpPr>
          <p:cNvPr id="33" name="slow-title-1">
            <a:extLst xmlns:a="http://schemas.openxmlformats.org/drawingml/2006/main">
              <a:ext uri="{FF2B5EF4-FFF2-40B4-BE49-F238E27FC236}">
                <a16:creationId xmlns:a16="http://schemas.microsoft.com/office/drawing/2014/main" id="{F8753DB3-166D-4B66-A1B8-54752691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 × 实测</a:t>
            </a:r>
          </a:p>
        </p:txBody>
      </p:sp>
      <p:sp>
        <p:nvSpPr>
          <p:cNvPr id="34" name="slow-body-1">
            <a:extLst xmlns:a="http://schemas.openxmlformats.org/drawingml/2006/main">
              <a:ext uri="{FF2B5EF4-FFF2-40B4-BE49-F238E27FC236}">
                <a16:creationId xmlns:a16="http://schemas.microsoft.com/office/drawing/2014/main" id="{1963BD1F-B271-4210-9C15-09C57C3E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偏差对账</a:t>
            </a:r>
          </a:p>
        </p:txBody>
      </p:sp>
      <p:sp>
        <p:nvSpPr>
          <p:cNvPr id="35" name="slow-arrow-1">
            <a:extLst xmlns:a="http://schemas.openxmlformats.org/drawingml/2006/main">
              <a:ext uri="{FF2B5EF4-FFF2-40B4-BE49-F238E27FC236}">
                <a16:creationId xmlns:a16="http://schemas.microsoft.com/office/drawing/2014/main" id="{247D0084-7D50-42C5-B224-7F84D9F6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292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slow-node-rule-2">
            <a:extLst xmlns:a="http://schemas.openxmlformats.org/drawingml/2006/main">
              <a:ext uri="{FF2B5EF4-FFF2-40B4-BE49-F238E27FC236}">
                <a16:creationId xmlns:a16="http://schemas.microsoft.com/office/drawing/2014/main" id="{81CCBE93-EC1E-44E8-97B4-3CACC058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816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0F5"/>
            </a:solidFill>
            <a:prstDash val="solid"/>
          </a:ln>
        </p:spPr>
      </p:sp>
      <p:sp>
        <p:nvSpPr>
          <p:cNvPr id="37" name="slow-title-2">
            <a:extLst xmlns:a="http://schemas.openxmlformats.org/drawingml/2006/main">
              <a:ext uri="{FF2B5EF4-FFF2-40B4-BE49-F238E27FC236}">
                <a16:creationId xmlns:a16="http://schemas.microsoft.com/office/drawing/2014/main" id="{E50F9459-9C91-44F9-9CF0-C7F22F1E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340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形成校准候选</a:t>
            </a:r>
          </a:p>
        </p:txBody>
      </p:sp>
      <p:sp>
        <p:nvSpPr>
          <p:cNvPr id="38" name="slow-body-2">
            <a:extLst xmlns:a="http://schemas.openxmlformats.org/drawingml/2006/main">
              <a:ext uri="{FF2B5EF4-FFF2-40B4-BE49-F238E27FC236}">
                <a16:creationId xmlns:a16="http://schemas.microsoft.com/office/drawing/2014/main" id="{409A640A-8D2D-4521-9375-A8E92171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864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39" name="slow-arrow-2">
            <a:extLst xmlns:a="http://schemas.openxmlformats.org/drawingml/2006/main">
              <a:ext uri="{FF2B5EF4-FFF2-40B4-BE49-F238E27FC236}">
                <a16:creationId xmlns:a16="http://schemas.microsoft.com/office/drawing/2014/main" id="{B71ED1A2-4D3D-4B8B-B3C6-BE13A733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292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0" name="slow-node-rule-3">
            <a:extLst xmlns:a="http://schemas.openxmlformats.org/drawingml/2006/main">
              <a:ext uri="{FF2B5EF4-FFF2-40B4-BE49-F238E27FC236}">
                <a16:creationId xmlns:a16="http://schemas.microsoft.com/office/drawing/2014/main" id="{FEB3772D-B08A-4DA3-AF90-32244033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816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E878"/>
            </a:solidFill>
            <a:prstDash val="solid"/>
          </a:ln>
        </p:spPr>
      </p:sp>
      <p:sp>
        <p:nvSpPr>
          <p:cNvPr id="41" name="slow-title-3">
            <a:extLst xmlns:a="http://schemas.openxmlformats.org/drawingml/2006/main">
              <a:ext uri="{FF2B5EF4-FFF2-40B4-BE49-F238E27FC236}">
                <a16:creationId xmlns:a16="http://schemas.microsoft.com/office/drawing/2014/main" id="{966E2F38-E65B-4E43-8BFF-EE3DCBCB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5340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数据验证门禁</a:t>
            </a:r>
          </a:p>
        </p:txBody>
      </p:sp>
      <p:sp>
        <p:nvSpPr>
          <p:cNvPr id="42" name="slow-body-3">
            <a:extLst xmlns:a="http://schemas.openxmlformats.org/drawingml/2006/main">
              <a:ext uri="{FF2B5EF4-FFF2-40B4-BE49-F238E27FC236}">
                <a16:creationId xmlns:a16="http://schemas.microsoft.com/office/drawing/2014/main" id="{F0BF8492-66AD-4B2C-A00D-834E797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8864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覆盖 / 分布 / 误差</a:t>
            </a:r>
          </a:p>
        </p:txBody>
      </p:sp>
      <p:sp>
        <p:nvSpPr>
          <p:cNvPr id="43" name="slow-arrow-3">
            <a:extLst xmlns:a="http://schemas.openxmlformats.org/drawingml/2006/main">
              <a:ext uri="{FF2B5EF4-FFF2-40B4-BE49-F238E27FC236}">
                <a16:creationId xmlns:a16="http://schemas.microsoft.com/office/drawing/2014/main" id="{189BAE5F-0C86-41C3-A186-50FC786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292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4" name="slow-node-rule-4">
            <a:extLst xmlns:a="http://schemas.openxmlformats.org/drawingml/2006/main">
              <a:ext uri="{FF2B5EF4-FFF2-40B4-BE49-F238E27FC236}">
                <a16:creationId xmlns:a16="http://schemas.microsoft.com/office/drawing/2014/main" id="{5126619D-816A-4035-9079-7D4CAE2A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816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C70"/>
            </a:solidFill>
            <a:prstDash val="solid"/>
          </a:ln>
        </p:spPr>
      </p:sp>
      <p:sp>
        <p:nvSpPr>
          <p:cNvPr id="45" name="slow-title-4">
            <a:extLst xmlns:a="http://schemas.openxmlformats.org/drawingml/2006/main">
              <a:ext uri="{FF2B5EF4-FFF2-40B4-BE49-F238E27FC236}">
                <a16:creationId xmlns:a16="http://schemas.microsoft.com/office/drawing/2014/main" id="{340F9D22-213C-4D91-94CE-D8A3606B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340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人工晋升版本</a:t>
            </a:r>
          </a:p>
        </p:txBody>
      </p:sp>
      <p:sp>
        <p:nvSpPr>
          <p:cNvPr id="46" name="slow-body-4">
            <a:extLst xmlns:a="http://schemas.openxmlformats.org/drawingml/2006/main">
              <a:ext uri="{FF2B5EF4-FFF2-40B4-BE49-F238E27FC236}">
                <a16:creationId xmlns:a16="http://schemas.microsoft.com/office/drawing/2014/main" id="{AE82327D-6121-43CC-972D-AA588221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864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通过后更新模型</a:t>
            </a:r>
          </a:p>
        </p:txBody>
      </p:sp>
      <p:sp>
        <p:nvSpPr>
          <p:cNvPr id="47" name="slow-arrow-4">
            <a:extLst xmlns:a="http://schemas.openxmlformats.org/drawingml/2006/main">
              <a:ext uri="{FF2B5EF4-FFF2-40B4-BE49-F238E27FC236}">
                <a16:creationId xmlns:a16="http://schemas.microsoft.com/office/drawing/2014/main" id="{AEF0B99E-416E-4E14-B303-04145C92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292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B91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8" name="slow-node-rule-5">
            <a:extLst xmlns:a="http://schemas.openxmlformats.org/drawingml/2006/main">
              <a:ext uri="{FF2B5EF4-FFF2-40B4-BE49-F238E27FC236}">
                <a16:creationId xmlns:a16="http://schemas.microsoft.com/office/drawing/2014/main" id="{EFA98803-BD81-4A6F-B5AA-6836EBEE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381625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1D6C5"/>
            </a:solidFill>
            <a:prstDash val="solid"/>
          </a:ln>
        </p:spPr>
      </p:sp>
      <p:sp>
        <p:nvSpPr>
          <p:cNvPr id="49" name="slow-title-5">
            <a:extLst xmlns:a="http://schemas.openxmlformats.org/drawingml/2006/main">
              <a:ext uri="{FF2B5EF4-FFF2-40B4-BE49-F238E27FC236}">
                <a16:creationId xmlns:a16="http://schemas.microsoft.com/office/drawing/2014/main" id="{76E63C32-5644-4701-8939-275A23B0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534025"/>
            <a:ext cx="1295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回到求解</a:t>
            </a:r>
          </a:p>
        </p:txBody>
      </p:sp>
      <p:sp>
        <p:nvSpPr>
          <p:cNvPr id="50" name="slow-body-5">
            <a:extLst xmlns:a="http://schemas.openxmlformats.org/drawingml/2006/main">
              <a:ext uri="{FF2B5EF4-FFF2-40B4-BE49-F238E27FC236}">
                <a16:creationId xmlns:a16="http://schemas.microsoft.com/office/drawing/2014/main" id="{DB4C7A87-8449-44F8-9D08-A466550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86450"/>
            <a:ext cx="129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CC9"/>
                </a:solidFill>
                <a:latin typeface="Microsoft YaHei"/>
                <a:ea typeface="Microsoft YaHei"/>
                <a:cs typeface="Microsoft YaHei"/>
              </a:rPr>
              <a:t>新版本</a:t>
            </a:r>
          </a:p>
        </p:txBody>
      </p:sp>
      <p:sp>
        <p:nvSpPr>
          <p:cNvPr id="51" name="loops-governance-note">
            <a:extLst xmlns:a="http://schemas.openxmlformats.org/drawingml/2006/main">
              <a:ext uri="{FF2B5EF4-FFF2-40B4-BE49-F238E27FC236}">
                <a16:creationId xmlns:a16="http://schemas.microsoft.com/office/drawing/2014/main" id="{DCAD5DF7-C041-419D-901C-96B317B3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697A7"/>
                </a:solidFill>
                <a:latin typeface="Microsoft YaHei"/>
                <a:ea typeface="Microsoft YaHei"/>
                <a:cs typeface="Microsoft YaHei"/>
              </a:rPr>
              <a:t>写入边界：建议先验证；实际写入必须经过授权审批，并以回读确认结果</a:t>
            </a:r>
          </a:p>
        </p:txBody>
      </p:sp>
      <p:sp>
        <p:nvSpPr>
          <p:cNvPr id="52" name="loops-page-number">
            <a:extLst xmlns:a="http://schemas.openxmlformats.org/drawingml/2006/main">
              <a:ext uri="{FF2B5EF4-FFF2-40B4-BE49-F238E27FC236}">
                <a16:creationId xmlns:a16="http://schemas.microsoft.com/office/drawing/2014/main" id="{0596EAF0-8B75-4C06-BD21-E9E25576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291A1"/>
                </a:solidFill>
                <a:latin typeface="Microsoft YaHei"/>
                <a:ea typeface="Microsoft YaHei"/>
                <a:cs typeface="Microsoft YaHei"/>
              </a:rPr>
              <a:t>03  /  03</a:t>
            </a:r>
          </a:p>
        </p:txBody>
      </p:sp>
    </p:spTree>
    <p:extLst>
      <p:ext uri="{BB962C8B-B14F-4D97-AF65-F5344CB8AC3E}">
        <p14:creationId xmlns:p14="http://schemas.microsoft.com/office/powerpoint/2010/main" val="210054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2026-10-30T15:47:05.4390000Z</dcterms:created>
  <dcterms:modified xsi:type="dcterms:W3CDTF">2026-10-30T15:47:05.4390000Z</dcterms:modified>
</coreProperties>
</file>